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5B790-81F7-49F8-CD11-D5D0F1FAC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820C2E-DA91-A3E8-E7A3-056A1E538F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FA32CA-54CC-FD36-5632-EBA54AEEEE04}"/>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B958F130-7865-06B9-42C8-3DA6B3B876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345608-5585-1AB5-84B3-7E7B875391D8}"/>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390139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6AE2-8654-C716-2392-DFA990D6B1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62C5B5-A097-F2A1-2FAF-C2BE33E8BC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173B05-DAF8-5E83-C053-6C236FFD5A5C}"/>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CA17DD8B-95A9-1275-BA66-D6963C53CE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4D86FC-17DF-235B-C40B-DF4C7E293B97}"/>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3445878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2ECB5-DC2D-2F3B-17AE-889EF313F1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76878A-7CD0-6BBF-FFC9-15E9E2E9C0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1B4710-ACC7-ACA0-66C0-FAD83B0A59A8}"/>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8CEA4920-0AC7-A9DA-F16C-A3957C9D1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C7538D-D6BC-5937-52BE-3AFA40507D3D}"/>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3717623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3C38-850F-B790-3928-77E02C191C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D2998E-7652-70F5-9C16-6F4E0DB676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1698FC-7721-1A6A-1346-B085B0BB81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8F0E4A-A776-1409-710E-E87E16185151}"/>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6" name="Footer Placeholder 5">
            <a:extLst>
              <a:ext uri="{FF2B5EF4-FFF2-40B4-BE49-F238E27FC236}">
                <a16:creationId xmlns:a16="http://schemas.microsoft.com/office/drawing/2014/main" id="{C8C526B1-2DF6-8D89-BAE7-475AFB0DFB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2A5719-1C59-D1BE-29DB-B890B40355F4}"/>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2297931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564C7-9758-171F-1DEE-86FBB52EEC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09E572-ACBA-F925-0C85-C8FF8D5CAC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9A2351-D654-6C8C-99ED-2F0B87AFE0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887AB5-7310-A56C-9E75-58768CB8E2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16030-8A27-4D71-2BCB-8BFD737B59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9D462B-622F-F5D4-ABE5-7667868FD396}"/>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8" name="Footer Placeholder 7">
            <a:extLst>
              <a:ext uri="{FF2B5EF4-FFF2-40B4-BE49-F238E27FC236}">
                <a16:creationId xmlns:a16="http://schemas.microsoft.com/office/drawing/2014/main" id="{2132BB76-207F-1DBE-5D64-14E31FEC7A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76A41B-15D5-E454-AD4C-B5165E979770}"/>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601932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96B6-7762-F439-D9AB-61F2EC17EC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8287A-30A1-4252-64FC-CFD6B4B392E6}"/>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4" name="Footer Placeholder 3">
            <a:extLst>
              <a:ext uri="{FF2B5EF4-FFF2-40B4-BE49-F238E27FC236}">
                <a16:creationId xmlns:a16="http://schemas.microsoft.com/office/drawing/2014/main" id="{E8EBDBF8-4A79-C9DA-CA63-44C3E31124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0E9CF5-46B2-EA0B-465A-1A4D13E2EB79}"/>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1648901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F7F1D8-C582-6639-2C9D-DB88E6CAF4A9}"/>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3" name="Footer Placeholder 2">
            <a:extLst>
              <a:ext uri="{FF2B5EF4-FFF2-40B4-BE49-F238E27FC236}">
                <a16:creationId xmlns:a16="http://schemas.microsoft.com/office/drawing/2014/main" id="{908000F2-419D-F326-11CC-ECF048997A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55AD29-618E-34E8-CBB9-2F1F73481C5C}"/>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3050606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1BC1-B91A-7E49-6922-0B9EEB5514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419E883-9A67-EFB5-4D31-964B35AD63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A8C1B4-372B-8F6F-F805-D76FF8EC4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EDEF0A-BAF0-995D-C698-A89A8DBE8D67}"/>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6" name="Footer Placeholder 5">
            <a:extLst>
              <a:ext uri="{FF2B5EF4-FFF2-40B4-BE49-F238E27FC236}">
                <a16:creationId xmlns:a16="http://schemas.microsoft.com/office/drawing/2014/main" id="{216DCD0B-ECFA-B8B6-D9C2-3A479BEFD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AF2E36-4F42-9DE9-8EFF-B7FBA76C787D}"/>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1041157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A50E-3698-11BF-CDCD-07438E4562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274418C-7A9C-B508-D13F-808ADE2960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33B422-680D-C315-9B29-E5B999205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B54F9-9DC9-2C85-9FD1-11A4D315C45E}"/>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6" name="Footer Placeholder 5">
            <a:extLst>
              <a:ext uri="{FF2B5EF4-FFF2-40B4-BE49-F238E27FC236}">
                <a16:creationId xmlns:a16="http://schemas.microsoft.com/office/drawing/2014/main" id="{8C81E79F-AF4B-7D59-5F74-496E02015D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90F4E3-3AF8-D05A-6213-72FBEFE1359F}"/>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731331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3C64B-1988-DA66-7254-B10A10D0C17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6177DE-5D88-77AA-AE64-C2D084D5B6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261C24-111A-1FDF-478C-91BE8FE5EA08}"/>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CA7ECB60-37D7-2A0C-F13C-7A7284D9C3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A201F9-E455-15AE-C482-3F295BE6CB5C}"/>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24851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EF8D24-2047-3486-6FF0-57297A916F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D7B332-8329-A6EB-7830-9F034FB2AE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7395AD-DEED-BCA8-BFB6-950AB019B43C}"/>
              </a:ext>
            </a:extLst>
          </p:cNvPr>
          <p:cNvSpPr>
            <a:spLocks noGrp="1"/>
          </p:cNvSpPr>
          <p:nvPr>
            <p:ph type="dt" sz="half" idx="10"/>
          </p:nvPr>
        </p:nvSpPr>
        <p:spPr/>
        <p:txBody>
          <a:body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AD5BC0F6-B93B-C9D3-E118-8D2B6E468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06D710-8332-05B3-83BF-559D2F089A16}"/>
              </a:ext>
            </a:extLst>
          </p:cNvPr>
          <p:cNvSpPr>
            <a:spLocks noGrp="1"/>
          </p:cNvSpPr>
          <p:nvPr>
            <p:ph type="sldNum" sz="quarter" idx="12"/>
          </p:nvPr>
        </p:nvSpPr>
        <p:spPr/>
        <p:txBody>
          <a:bodyPr/>
          <a:lstStyle/>
          <a:p>
            <a:fld id="{9D519001-C01C-4567-A341-73F12803E7E0}" type="slidenum">
              <a:rPr lang="en-IN" smtClean="0"/>
              <a:t>‹#›</a:t>
            </a:fld>
            <a:endParaRPr lang="en-IN"/>
          </a:p>
        </p:txBody>
      </p:sp>
    </p:spTree>
    <p:extLst>
      <p:ext uri="{BB962C8B-B14F-4D97-AF65-F5344CB8AC3E}">
        <p14:creationId xmlns:p14="http://schemas.microsoft.com/office/powerpoint/2010/main" val="424493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79133A-1E86-86EA-4C0A-190F27AECA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995DBF-B063-4ABF-3CAC-1E1F3C86F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3F9C6C-43F0-AAC4-1A9C-46D8EC4F34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5CF7F-F19D-426C-8C4C-E55E1BCB616C}" type="datetimeFigureOut">
              <a:rPr lang="en-IN" smtClean="0"/>
              <a:t>21-12-2025</a:t>
            </a:fld>
            <a:endParaRPr lang="en-IN"/>
          </a:p>
        </p:txBody>
      </p:sp>
      <p:sp>
        <p:nvSpPr>
          <p:cNvPr id="5" name="Footer Placeholder 4">
            <a:extLst>
              <a:ext uri="{FF2B5EF4-FFF2-40B4-BE49-F238E27FC236}">
                <a16:creationId xmlns:a16="http://schemas.microsoft.com/office/drawing/2014/main" id="{45F24C1A-F7DD-F4B3-D57F-2378543FE0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F2C9A5C-F3AD-2591-FE1F-3827EF1F75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519001-C01C-4567-A341-73F12803E7E0}" type="slidenum">
              <a:rPr lang="en-IN" smtClean="0"/>
              <a:t>‹#›</a:t>
            </a:fld>
            <a:endParaRPr lang="en-IN"/>
          </a:p>
        </p:txBody>
      </p:sp>
    </p:spTree>
    <p:extLst>
      <p:ext uri="{BB962C8B-B14F-4D97-AF65-F5344CB8AC3E}">
        <p14:creationId xmlns:p14="http://schemas.microsoft.com/office/powerpoint/2010/main" val="953175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9BEAC-09A5-DE84-0D01-4016629C6C09}"/>
              </a:ext>
            </a:extLst>
          </p:cNvPr>
          <p:cNvSpPr>
            <a:spLocks noGrp="1"/>
          </p:cNvSpPr>
          <p:nvPr>
            <p:ph type="ctrTitle"/>
          </p:nvPr>
        </p:nvSpPr>
        <p:spPr>
          <a:xfrm>
            <a:off x="1524000" y="1122363"/>
            <a:ext cx="9144000" cy="1129224"/>
          </a:xfrm>
        </p:spPr>
        <p:txBody>
          <a:bodyPr/>
          <a:lstStyle/>
          <a:p>
            <a:r>
              <a:rPr lang="en-IN" dirty="0">
                <a:solidFill>
                  <a:schemeClr val="accent6">
                    <a:lumMod val="50000"/>
                  </a:schemeClr>
                </a:solidFill>
                <a:latin typeface="Arial Black" panose="020B0A04020102020204" pitchFamily="34" charset="0"/>
              </a:rPr>
              <a:t>Flight Data Analytics</a:t>
            </a:r>
          </a:p>
        </p:txBody>
      </p:sp>
      <p:sp>
        <p:nvSpPr>
          <p:cNvPr id="3" name="Subtitle 2">
            <a:extLst>
              <a:ext uri="{FF2B5EF4-FFF2-40B4-BE49-F238E27FC236}">
                <a16:creationId xmlns:a16="http://schemas.microsoft.com/office/drawing/2014/main" id="{5F0C5F0A-210A-CA85-8751-0026156681AD}"/>
              </a:ext>
            </a:extLst>
          </p:cNvPr>
          <p:cNvSpPr>
            <a:spLocks noGrp="1"/>
          </p:cNvSpPr>
          <p:nvPr>
            <p:ph type="subTitle" idx="1"/>
          </p:nvPr>
        </p:nvSpPr>
        <p:spPr/>
        <p:txBody>
          <a:bodyPr/>
          <a:lstStyle/>
          <a:p>
            <a:endParaRPr lang="en-IN" dirty="0"/>
          </a:p>
        </p:txBody>
      </p:sp>
      <p:pic>
        <p:nvPicPr>
          <p:cNvPr id="5" name="Picture 4">
            <a:extLst>
              <a:ext uri="{FF2B5EF4-FFF2-40B4-BE49-F238E27FC236}">
                <a16:creationId xmlns:a16="http://schemas.microsoft.com/office/drawing/2014/main" id="{6B9BEEBB-6BDA-E147-88F7-648F9F078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602037"/>
            <a:ext cx="9144000" cy="2720105"/>
          </a:xfrm>
          <a:prstGeom prst="rect">
            <a:avLst/>
          </a:prstGeom>
        </p:spPr>
      </p:pic>
    </p:spTree>
    <p:extLst>
      <p:ext uri="{BB962C8B-B14F-4D97-AF65-F5344CB8AC3E}">
        <p14:creationId xmlns:p14="http://schemas.microsoft.com/office/powerpoint/2010/main" val="3916307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1EBB9E5A-BC35-83FB-829D-2D1C8B41729B}"/>
              </a:ext>
            </a:extLst>
          </p:cNvPr>
          <p:cNvSpPr>
            <a:spLocks noGrp="1" noChangeArrowheads="1"/>
          </p:cNvSpPr>
          <p:nvPr>
            <p:ph idx="4294967295"/>
          </p:nvPr>
        </p:nvSpPr>
        <p:spPr bwMode="auto">
          <a:xfrm>
            <a:off x="1071716" y="-1756776"/>
            <a:ext cx="9144000" cy="809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Title:</a:t>
            </a:r>
            <a:r>
              <a:rPr kumimoji="0" lang="en-US" altLang="en-US" sz="2000" b="0" i="0" u="none" strike="noStrike" cap="none" normalizeH="0" baseline="0" dirty="0">
                <a:ln>
                  <a:noFill/>
                </a:ln>
                <a:solidFill>
                  <a:schemeClr val="tx1"/>
                </a:solidFill>
                <a:effectLst/>
                <a:latin typeface="Arial" panose="020B0604020202020204" pitchFamily="34" charset="0"/>
              </a:rPr>
              <a:t> Air Tracker: Flight Analytics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Subtitle:</a:t>
            </a:r>
            <a:r>
              <a:rPr kumimoji="0" lang="en-US" altLang="en-US" sz="2000" b="0" i="0" u="none" strike="noStrike" cap="none" normalizeH="0" baseline="0" dirty="0">
                <a:ln>
                  <a:noFill/>
                </a:ln>
                <a:solidFill>
                  <a:schemeClr val="tx1"/>
                </a:solidFill>
                <a:effectLst/>
                <a:latin typeface="Arial" panose="020B0604020202020204" pitchFamily="34" charset="0"/>
              </a:rPr>
              <a:t> Real-time Aviation Data Integration &amp; Predictive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Presented by:</a:t>
            </a:r>
            <a:r>
              <a:rPr kumimoji="0" lang="en-US" altLang="en-US" sz="2000" b="0" i="0" u="none" strike="noStrike" cap="none" normalizeH="0" baseline="0" dirty="0">
                <a:ln>
                  <a:noFill/>
                </a:ln>
                <a:solidFill>
                  <a:schemeClr val="tx1"/>
                </a:solidFill>
                <a:effectLst/>
                <a:latin typeface="Arial" panose="020B0604020202020204" pitchFamily="34" charset="0"/>
              </a:rPr>
              <a:t> Karthik 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Domain:</a:t>
            </a:r>
            <a:r>
              <a:rPr kumimoji="0" lang="en-US" altLang="en-US" sz="2000" b="0" i="0" u="none" strike="noStrike" cap="none" normalizeH="0" baseline="0" dirty="0">
                <a:ln>
                  <a:noFill/>
                </a:ln>
                <a:solidFill>
                  <a:schemeClr val="tx1"/>
                </a:solidFill>
                <a:effectLst/>
                <a:latin typeface="Arial" panose="020B0604020202020204" pitchFamily="34" charset="0"/>
              </a:rPr>
              <a:t> Aviation / Data Analytics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Tools Used:</a:t>
            </a:r>
            <a:r>
              <a:rPr kumimoji="0" lang="en-US" altLang="en-US" sz="2000" b="0" i="0" u="none" strike="noStrike" cap="none" normalizeH="0" baseline="0" dirty="0">
                <a:ln>
                  <a:noFill/>
                </a:ln>
                <a:solidFill>
                  <a:schemeClr val="tx1"/>
                </a:solidFill>
                <a:effectLst/>
                <a:latin typeface="Arial" panose="020B0604020202020204" pitchFamily="34" charset="0"/>
              </a:rPr>
              <a:t> Python, SQL, </a:t>
            </a:r>
            <a:r>
              <a:rPr kumimoji="0" lang="en-US" altLang="en-US" sz="2000" b="0" i="0" u="none" strike="noStrike" cap="none" normalizeH="0" baseline="0" dirty="0" err="1">
                <a:ln>
                  <a:noFill/>
                </a:ln>
                <a:solidFill>
                  <a:schemeClr val="tx1"/>
                </a:solidFill>
                <a:effectLst/>
                <a:latin typeface="Arial" panose="020B0604020202020204" pitchFamily="34" charset="0"/>
              </a:rPr>
              <a:t>Streamlit</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AeroDataBox</a:t>
            </a:r>
            <a:r>
              <a:rPr kumimoji="0" lang="en-US" altLang="en-US" sz="2000" b="0" i="0" u="none" strike="noStrike" cap="none" normalizeH="0" baseline="0" dirty="0">
                <a:ln>
                  <a:noFill/>
                </a:ln>
                <a:solidFill>
                  <a:schemeClr val="tx1"/>
                </a:solidFill>
                <a:effectLst/>
                <a:latin typeface="Arial" panose="020B0604020202020204" pitchFamily="34" charset="0"/>
              </a:rPr>
              <a:t> API, VS Code, Google </a:t>
            </a:r>
            <a:r>
              <a:rPr kumimoji="0" lang="en-US" altLang="en-US" sz="2000" b="0" i="0" u="none" strike="noStrike" cap="none" normalizeH="0" baseline="0" dirty="0" err="1">
                <a:ln>
                  <a:noFill/>
                </a:ln>
                <a:solidFill>
                  <a:schemeClr val="tx1"/>
                </a:solidFill>
                <a:effectLst/>
                <a:latin typeface="Arial" panose="020B0604020202020204" pitchFamily="34" charset="0"/>
              </a:rPr>
              <a:t>Colab</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163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4CF1-E81E-9398-D339-8FC507DE45AB}"/>
              </a:ext>
            </a:extLst>
          </p:cNvPr>
          <p:cNvSpPr>
            <a:spLocks noGrp="1"/>
          </p:cNvSpPr>
          <p:nvPr>
            <p:ph type="title" idx="4294967295"/>
          </p:nvPr>
        </p:nvSpPr>
        <p:spPr>
          <a:xfrm>
            <a:off x="491612" y="365126"/>
            <a:ext cx="10023987" cy="824578"/>
          </a:xfrm>
        </p:spPr>
        <p:txBody>
          <a:bodyPr/>
          <a:lstStyle/>
          <a:p>
            <a:r>
              <a:rPr lang="en-IN" dirty="0"/>
              <a:t>Data Extraction</a:t>
            </a:r>
          </a:p>
        </p:txBody>
      </p:sp>
      <p:sp>
        <p:nvSpPr>
          <p:cNvPr id="4" name="Rectangle 3">
            <a:extLst>
              <a:ext uri="{FF2B5EF4-FFF2-40B4-BE49-F238E27FC236}">
                <a16:creationId xmlns:a16="http://schemas.microsoft.com/office/drawing/2014/main" id="{758BE951-A941-6283-90F5-4340656EC033}"/>
              </a:ext>
            </a:extLst>
          </p:cNvPr>
          <p:cNvSpPr/>
          <p:nvPr/>
        </p:nvSpPr>
        <p:spPr>
          <a:xfrm>
            <a:off x="4237703" y="887363"/>
            <a:ext cx="3342968" cy="1012723"/>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t>Aero DATA Box API</a:t>
            </a:r>
          </a:p>
        </p:txBody>
      </p:sp>
      <p:sp>
        <p:nvSpPr>
          <p:cNvPr id="5" name="Rectangle 4">
            <a:extLst>
              <a:ext uri="{FF2B5EF4-FFF2-40B4-BE49-F238E27FC236}">
                <a16:creationId xmlns:a16="http://schemas.microsoft.com/office/drawing/2014/main" id="{EBA2CFF3-1834-9A0E-0B1C-C7FFEE028EF8}"/>
              </a:ext>
            </a:extLst>
          </p:cNvPr>
          <p:cNvSpPr/>
          <p:nvPr/>
        </p:nvSpPr>
        <p:spPr>
          <a:xfrm>
            <a:off x="1106133" y="3077498"/>
            <a:ext cx="2251587" cy="10618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Airport Data with respect to </a:t>
            </a:r>
            <a:r>
              <a:rPr lang="en-IN" dirty="0" err="1"/>
              <a:t>iata_code</a:t>
            </a:r>
            <a:endParaRPr lang="en-IN" dirty="0"/>
          </a:p>
        </p:txBody>
      </p:sp>
      <p:sp>
        <p:nvSpPr>
          <p:cNvPr id="6" name="Rectangle 5">
            <a:extLst>
              <a:ext uri="{FF2B5EF4-FFF2-40B4-BE49-F238E27FC236}">
                <a16:creationId xmlns:a16="http://schemas.microsoft.com/office/drawing/2014/main" id="{D1163AD6-0495-DC7A-66FC-71DCEE0A79B1}"/>
              </a:ext>
            </a:extLst>
          </p:cNvPr>
          <p:cNvSpPr/>
          <p:nvPr/>
        </p:nvSpPr>
        <p:spPr>
          <a:xfrm>
            <a:off x="3716594" y="3077498"/>
            <a:ext cx="2517058" cy="10618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Aircraft Data with respect to </a:t>
            </a:r>
            <a:r>
              <a:rPr lang="en-IN" dirty="0" err="1"/>
              <a:t>Flight_model</a:t>
            </a:r>
            <a:endParaRPr lang="en-IN" dirty="0"/>
          </a:p>
        </p:txBody>
      </p:sp>
      <p:sp>
        <p:nvSpPr>
          <p:cNvPr id="7" name="Rectangle 6">
            <a:extLst>
              <a:ext uri="{FF2B5EF4-FFF2-40B4-BE49-F238E27FC236}">
                <a16:creationId xmlns:a16="http://schemas.microsoft.com/office/drawing/2014/main" id="{23027487-4B49-D610-A917-9283884C8945}"/>
              </a:ext>
            </a:extLst>
          </p:cNvPr>
          <p:cNvSpPr/>
          <p:nvPr/>
        </p:nvSpPr>
        <p:spPr>
          <a:xfrm>
            <a:off x="6690855" y="3077498"/>
            <a:ext cx="2408903" cy="10618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Aircraft movement Data with Respect to </a:t>
            </a:r>
            <a:r>
              <a:rPr lang="en-IN" dirty="0" err="1"/>
              <a:t>iata_code</a:t>
            </a:r>
            <a:r>
              <a:rPr lang="en-IN" dirty="0"/>
              <a:t> and Date</a:t>
            </a:r>
          </a:p>
        </p:txBody>
      </p:sp>
      <p:sp>
        <p:nvSpPr>
          <p:cNvPr id="8" name="Rectangle 7">
            <a:extLst>
              <a:ext uri="{FF2B5EF4-FFF2-40B4-BE49-F238E27FC236}">
                <a16:creationId xmlns:a16="http://schemas.microsoft.com/office/drawing/2014/main" id="{5FADA40B-5EFE-3DBA-C1B2-8BB33229ED36}"/>
              </a:ext>
            </a:extLst>
          </p:cNvPr>
          <p:cNvSpPr/>
          <p:nvPr/>
        </p:nvSpPr>
        <p:spPr>
          <a:xfrm>
            <a:off x="9458632" y="3077498"/>
            <a:ext cx="2497394" cy="1061884"/>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t>Delay Data with respect to </a:t>
            </a:r>
            <a:r>
              <a:rPr lang="en-IN" dirty="0" err="1"/>
              <a:t>iata_code</a:t>
            </a:r>
            <a:endParaRPr lang="en-IN" dirty="0"/>
          </a:p>
        </p:txBody>
      </p:sp>
      <p:sp>
        <p:nvSpPr>
          <p:cNvPr id="9" name="Rectangle 8">
            <a:extLst>
              <a:ext uri="{FF2B5EF4-FFF2-40B4-BE49-F238E27FC236}">
                <a16:creationId xmlns:a16="http://schemas.microsoft.com/office/drawing/2014/main" id="{5A247F0A-4B91-C15B-8F5F-E171DB37E703}"/>
              </a:ext>
            </a:extLst>
          </p:cNvPr>
          <p:cNvSpPr/>
          <p:nvPr/>
        </p:nvSpPr>
        <p:spPr>
          <a:xfrm>
            <a:off x="2831690" y="2208672"/>
            <a:ext cx="6322142" cy="509947"/>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IN" dirty="0"/>
              <a:t>Data Dumb extraction using Python For Loop</a:t>
            </a:r>
          </a:p>
        </p:txBody>
      </p:sp>
      <p:cxnSp>
        <p:nvCxnSpPr>
          <p:cNvPr id="11" name="Straight Arrow Connector 10">
            <a:extLst>
              <a:ext uri="{FF2B5EF4-FFF2-40B4-BE49-F238E27FC236}">
                <a16:creationId xmlns:a16="http://schemas.microsoft.com/office/drawing/2014/main" id="{C70B6AC7-B1ED-4D96-BA11-8C430100B21F}"/>
              </a:ext>
            </a:extLst>
          </p:cNvPr>
          <p:cNvCxnSpPr>
            <a:stCxn id="4" idx="2"/>
          </p:cNvCxnSpPr>
          <p:nvPr/>
        </p:nvCxnSpPr>
        <p:spPr>
          <a:xfrm flipH="1">
            <a:off x="5909186" y="1900086"/>
            <a:ext cx="1" cy="3146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Elbow 16">
            <a:extLst>
              <a:ext uri="{FF2B5EF4-FFF2-40B4-BE49-F238E27FC236}">
                <a16:creationId xmlns:a16="http://schemas.microsoft.com/office/drawing/2014/main" id="{BCFC9473-E1AA-2159-5EBB-29F6CA77CA0E}"/>
              </a:ext>
            </a:extLst>
          </p:cNvPr>
          <p:cNvCxnSpPr>
            <a:stCxn id="9" idx="1"/>
            <a:endCxn id="5" idx="0"/>
          </p:cNvCxnSpPr>
          <p:nvPr/>
        </p:nvCxnSpPr>
        <p:spPr>
          <a:xfrm rot="10800000" flipV="1">
            <a:off x="2231928" y="2463646"/>
            <a:ext cx="599763" cy="61385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23" name="Connector: Elbow 22">
            <a:extLst>
              <a:ext uri="{FF2B5EF4-FFF2-40B4-BE49-F238E27FC236}">
                <a16:creationId xmlns:a16="http://schemas.microsoft.com/office/drawing/2014/main" id="{57FA3BAF-D872-333D-59CE-23011833C90E}"/>
              </a:ext>
            </a:extLst>
          </p:cNvPr>
          <p:cNvCxnSpPr>
            <a:cxnSpLocks/>
            <a:endCxn id="6" idx="0"/>
          </p:cNvCxnSpPr>
          <p:nvPr/>
        </p:nvCxnSpPr>
        <p:spPr>
          <a:xfrm rot="5400000">
            <a:off x="4804854" y="2907225"/>
            <a:ext cx="340543" cy="3"/>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6D377E03-BD3E-3CF4-4963-0307BF6AE65E}"/>
              </a:ext>
            </a:extLst>
          </p:cNvPr>
          <p:cNvCxnSpPr>
            <a:cxnSpLocks/>
            <a:endCxn id="7" idx="0"/>
          </p:cNvCxnSpPr>
          <p:nvPr/>
        </p:nvCxnSpPr>
        <p:spPr>
          <a:xfrm rot="16200000" flipH="1">
            <a:off x="7733638" y="2915829"/>
            <a:ext cx="323336" cy="1"/>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9" name="Connector: Elbow 28">
            <a:extLst>
              <a:ext uri="{FF2B5EF4-FFF2-40B4-BE49-F238E27FC236}">
                <a16:creationId xmlns:a16="http://schemas.microsoft.com/office/drawing/2014/main" id="{9F02F4D9-A6DB-2B46-3744-B9486DB849DF}"/>
              </a:ext>
            </a:extLst>
          </p:cNvPr>
          <p:cNvCxnSpPr>
            <a:stCxn id="9" idx="3"/>
            <a:endCxn id="8" idx="0"/>
          </p:cNvCxnSpPr>
          <p:nvPr/>
        </p:nvCxnSpPr>
        <p:spPr>
          <a:xfrm>
            <a:off x="9153832" y="2463646"/>
            <a:ext cx="1553497" cy="61385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35" name="Rectangle 34">
            <a:extLst>
              <a:ext uri="{FF2B5EF4-FFF2-40B4-BE49-F238E27FC236}">
                <a16:creationId xmlns:a16="http://schemas.microsoft.com/office/drawing/2014/main" id="{A176DF9A-5861-9535-F593-7A2A2017CC41}"/>
              </a:ext>
            </a:extLst>
          </p:cNvPr>
          <p:cNvSpPr/>
          <p:nvPr/>
        </p:nvSpPr>
        <p:spPr>
          <a:xfrm>
            <a:off x="4434348" y="4473677"/>
            <a:ext cx="3333136" cy="77674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Data cleaning and saved as separate </a:t>
            </a:r>
            <a:r>
              <a:rPr lang="en-IN" dirty="0" err="1"/>
              <a:t>json</a:t>
            </a:r>
            <a:r>
              <a:rPr lang="en-IN" dirty="0"/>
              <a:t> files for access</a:t>
            </a:r>
          </a:p>
        </p:txBody>
      </p:sp>
      <p:cxnSp>
        <p:nvCxnSpPr>
          <p:cNvPr id="38" name="Connector: Elbow 37">
            <a:extLst>
              <a:ext uri="{FF2B5EF4-FFF2-40B4-BE49-F238E27FC236}">
                <a16:creationId xmlns:a16="http://schemas.microsoft.com/office/drawing/2014/main" id="{A4C9BC66-8550-8F5E-A2FA-3854DA3776C7}"/>
              </a:ext>
            </a:extLst>
          </p:cNvPr>
          <p:cNvCxnSpPr>
            <a:stCxn id="5" idx="2"/>
            <a:endCxn id="35" idx="1"/>
          </p:cNvCxnSpPr>
          <p:nvPr/>
        </p:nvCxnSpPr>
        <p:spPr>
          <a:xfrm rot="16200000" flipH="1">
            <a:off x="2971802" y="3399506"/>
            <a:ext cx="722670" cy="2202421"/>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46" name="Straight Arrow Connector 45">
            <a:extLst>
              <a:ext uri="{FF2B5EF4-FFF2-40B4-BE49-F238E27FC236}">
                <a16:creationId xmlns:a16="http://schemas.microsoft.com/office/drawing/2014/main" id="{9034CB98-89DF-DD61-C8A1-E98449681CF0}"/>
              </a:ext>
            </a:extLst>
          </p:cNvPr>
          <p:cNvCxnSpPr>
            <a:stCxn id="6" idx="2"/>
          </p:cNvCxnSpPr>
          <p:nvPr/>
        </p:nvCxnSpPr>
        <p:spPr>
          <a:xfrm>
            <a:off x="4975123" y="4139382"/>
            <a:ext cx="1" cy="3342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1990B24F-FB21-FB7C-A96F-CC2F9FB78D39}"/>
              </a:ext>
            </a:extLst>
          </p:cNvPr>
          <p:cNvCxnSpPr/>
          <p:nvPr/>
        </p:nvCxnSpPr>
        <p:spPr>
          <a:xfrm>
            <a:off x="7580671" y="4139381"/>
            <a:ext cx="0" cy="3342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Connector: Elbow 49">
            <a:extLst>
              <a:ext uri="{FF2B5EF4-FFF2-40B4-BE49-F238E27FC236}">
                <a16:creationId xmlns:a16="http://schemas.microsoft.com/office/drawing/2014/main" id="{7521724A-8759-E331-ED41-FE33BC9B37A3}"/>
              </a:ext>
            </a:extLst>
          </p:cNvPr>
          <p:cNvCxnSpPr>
            <a:stCxn id="8" idx="2"/>
            <a:endCxn id="35" idx="3"/>
          </p:cNvCxnSpPr>
          <p:nvPr/>
        </p:nvCxnSpPr>
        <p:spPr>
          <a:xfrm rot="5400000">
            <a:off x="8876072" y="3030795"/>
            <a:ext cx="722670" cy="2939845"/>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51" name="Rectangle: Rounded Corners 50">
            <a:extLst>
              <a:ext uri="{FF2B5EF4-FFF2-40B4-BE49-F238E27FC236}">
                <a16:creationId xmlns:a16="http://schemas.microsoft.com/office/drawing/2014/main" id="{2C260D87-0293-0F54-4FFC-462EDFB6489D}"/>
              </a:ext>
            </a:extLst>
          </p:cNvPr>
          <p:cNvSpPr/>
          <p:nvPr/>
        </p:nvSpPr>
        <p:spPr>
          <a:xfrm>
            <a:off x="4434348" y="5417574"/>
            <a:ext cx="3333136" cy="5063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Created a </a:t>
            </a:r>
            <a:r>
              <a:rPr lang="en-IN" dirty="0" err="1"/>
              <a:t>Combined_API</a:t>
            </a:r>
            <a:endParaRPr lang="en-IN" dirty="0"/>
          </a:p>
        </p:txBody>
      </p:sp>
      <p:cxnSp>
        <p:nvCxnSpPr>
          <p:cNvPr id="53" name="Straight Arrow Connector 52">
            <a:extLst>
              <a:ext uri="{FF2B5EF4-FFF2-40B4-BE49-F238E27FC236}">
                <a16:creationId xmlns:a16="http://schemas.microsoft.com/office/drawing/2014/main" id="{F4997FFE-015E-81D3-C4D2-0A7AFC2BFDB9}"/>
              </a:ext>
            </a:extLst>
          </p:cNvPr>
          <p:cNvCxnSpPr>
            <a:stCxn id="35" idx="2"/>
            <a:endCxn id="51" idx="0"/>
          </p:cNvCxnSpPr>
          <p:nvPr/>
        </p:nvCxnSpPr>
        <p:spPr>
          <a:xfrm>
            <a:off x="6100916" y="5250426"/>
            <a:ext cx="0" cy="1671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4" name="Rectangle: Rounded Corners 53">
            <a:extLst>
              <a:ext uri="{FF2B5EF4-FFF2-40B4-BE49-F238E27FC236}">
                <a16:creationId xmlns:a16="http://schemas.microsoft.com/office/drawing/2014/main" id="{C05EAA0C-B2B8-B399-37EA-74BF956A750F}"/>
              </a:ext>
            </a:extLst>
          </p:cNvPr>
          <p:cNvSpPr/>
          <p:nvPr/>
        </p:nvSpPr>
        <p:spPr>
          <a:xfrm>
            <a:off x="3839500" y="6091084"/>
            <a:ext cx="5260258" cy="6096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Saved the API in database for SQL Queries Execution and VS code Execution for </a:t>
            </a:r>
            <a:r>
              <a:rPr lang="en-IN" dirty="0" err="1"/>
              <a:t>Streamlit</a:t>
            </a:r>
            <a:endParaRPr lang="en-IN" dirty="0"/>
          </a:p>
        </p:txBody>
      </p:sp>
      <p:cxnSp>
        <p:nvCxnSpPr>
          <p:cNvPr id="56" name="Straight Arrow Connector 55">
            <a:extLst>
              <a:ext uri="{FF2B5EF4-FFF2-40B4-BE49-F238E27FC236}">
                <a16:creationId xmlns:a16="http://schemas.microsoft.com/office/drawing/2014/main" id="{EE4773A7-7FC1-6344-09C1-0091BBB6B396}"/>
              </a:ext>
            </a:extLst>
          </p:cNvPr>
          <p:cNvCxnSpPr>
            <a:stCxn id="51" idx="2"/>
          </p:cNvCxnSpPr>
          <p:nvPr/>
        </p:nvCxnSpPr>
        <p:spPr>
          <a:xfrm flipH="1">
            <a:off x="6096000" y="5923936"/>
            <a:ext cx="4916" cy="1671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70461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11834A-A3FD-0654-CF4F-074AE9E0B798}"/>
              </a:ext>
            </a:extLst>
          </p:cNvPr>
          <p:cNvSpPr txBox="1"/>
          <p:nvPr/>
        </p:nvSpPr>
        <p:spPr>
          <a:xfrm>
            <a:off x="383458" y="255639"/>
            <a:ext cx="7354529" cy="369332"/>
          </a:xfrm>
          <a:prstGeom prst="rect">
            <a:avLst/>
          </a:prstGeom>
          <a:noFill/>
        </p:spPr>
        <p:txBody>
          <a:bodyPr wrap="square" rtlCol="0">
            <a:spAutoFit/>
          </a:bodyPr>
          <a:lstStyle/>
          <a:p>
            <a:r>
              <a:rPr lang="en-IN" b="1" u="sng" dirty="0"/>
              <a:t>SQL Query Execution:</a:t>
            </a:r>
          </a:p>
        </p:txBody>
      </p:sp>
      <p:sp>
        <p:nvSpPr>
          <p:cNvPr id="3" name="Rectangle: Rounded Corners 2">
            <a:extLst>
              <a:ext uri="{FF2B5EF4-FFF2-40B4-BE49-F238E27FC236}">
                <a16:creationId xmlns:a16="http://schemas.microsoft.com/office/drawing/2014/main" id="{B8CC2C80-B878-FB3A-C037-6F560BA37533}"/>
              </a:ext>
            </a:extLst>
          </p:cNvPr>
          <p:cNvSpPr/>
          <p:nvPr/>
        </p:nvSpPr>
        <p:spPr>
          <a:xfrm>
            <a:off x="4345858" y="737419"/>
            <a:ext cx="3244645" cy="8652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Used SQLite3 Database</a:t>
            </a:r>
          </a:p>
        </p:txBody>
      </p:sp>
      <p:sp>
        <p:nvSpPr>
          <p:cNvPr id="4" name="Rectangle: Rounded Corners 3">
            <a:extLst>
              <a:ext uri="{FF2B5EF4-FFF2-40B4-BE49-F238E27FC236}">
                <a16:creationId xmlns:a16="http://schemas.microsoft.com/office/drawing/2014/main" id="{3005C53D-F91A-C3D1-1892-82BFC6FEA728}"/>
              </a:ext>
            </a:extLst>
          </p:cNvPr>
          <p:cNvSpPr/>
          <p:nvPr/>
        </p:nvSpPr>
        <p:spPr>
          <a:xfrm>
            <a:off x="3824748" y="2054942"/>
            <a:ext cx="4562168" cy="10028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Used SQL  expressions, conditions like when, where, Left Join, Order by, From, Limit, etc,.</a:t>
            </a:r>
          </a:p>
        </p:txBody>
      </p:sp>
      <p:sp>
        <p:nvSpPr>
          <p:cNvPr id="5" name="Rectangle: Rounded Corners 4">
            <a:extLst>
              <a:ext uri="{FF2B5EF4-FFF2-40B4-BE49-F238E27FC236}">
                <a16:creationId xmlns:a16="http://schemas.microsoft.com/office/drawing/2014/main" id="{F3F55155-CF9B-C22D-8BCA-C2B1AEABB907}"/>
              </a:ext>
            </a:extLst>
          </p:cNvPr>
          <p:cNvSpPr/>
          <p:nvPr/>
        </p:nvSpPr>
        <p:spPr>
          <a:xfrm>
            <a:off x="3913238" y="3429000"/>
            <a:ext cx="4385187" cy="7693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Executed the predefined Queries in Google </a:t>
            </a:r>
            <a:r>
              <a:rPr lang="en-IN" dirty="0" err="1"/>
              <a:t>colab</a:t>
            </a:r>
            <a:r>
              <a:rPr lang="en-IN" dirty="0"/>
              <a:t> &amp; VS Code Application</a:t>
            </a:r>
          </a:p>
        </p:txBody>
      </p:sp>
      <p:sp>
        <p:nvSpPr>
          <p:cNvPr id="6" name="Rectangle: Rounded Corners 5">
            <a:extLst>
              <a:ext uri="{FF2B5EF4-FFF2-40B4-BE49-F238E27FC236}">
                <a16:creationId xmlns:a16="http://schemas.microsoft.com/office/drawing/2014/main" id="{28E0F71C-263F-341A-DAFD-BCDECD45A57C}"/>
              </a:ext>
            </a:extLst>
          </p:cNvPr>
          <p:cNvSpPr/>
          <p:nvPr/>
        </p:nvSpPr>
        <p:spPr>
          <a:xfrm>
            <a:off x="3913238" y="4788310"/>
            <a:ext cx="4385187" cy="10225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Created a </a:t>
            </a:r>
            <a:r>
              <a:rPr lang="en-IN" dirty="0" err="1"/>
              <a:t>streamlit</a:t>
            </a:r>
            <a:r>
              <a:rPr lang="en-IN" dirty="0"/>
              <a:t> application via VS Code</a:t>
            </a:r>
          </a:p>
        </p:txBody>
      </p:sp>
      <p:cxnSp>
        <p:nvCxnSpPr>
          <p:cNvPr id="8" name="Straight Arrow Connector 7">
            <a:extLst>
              <a:ext uri="{FF2B5EF4-FFF2-40B4-BE49-F238E27FC236}">
                <a16:creationId xmlns:a16="http://schemas.microsoft.com/office/drawing/2014/main" id="{604D7DFC-7079-53ED-7DFB-AAFA28CA2604}"/>
              </a:ext>
            </a:extLst>
          </p:cNvPr>
          <p:cNvCxnSpPr>
            <a:cxnSpLocks/>
            <a:stCxn id="3" idx="2"/>
          </p:cNvCxnSpPr>
          <p:nvPr/>
        </p:nvCxnSpPr>
        <p:spPr>
          <a:xfrm>
            <a:off x="5968181" y="1602658"/>
            <a:ext cx="0" cy="4522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E7FC2E60-D2B5-9CDA-7CAC-5D2BD8C5056B}"/>
              </a:ext>
            </a:extLst>
          </p:cNvPr>
          <p:cNvCxnSpPr>
            <a:cxnSpLocks/>
          </p:cNvCxnSpPr>
          <p:nvPr/>
        </p:nvCxnSpPr>
        <p:spPr>
          <a:xfrm>
            <a:off x="5987845" y="3057832"/>
            <a:ext cx="0" cy="3711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2459465F-ECCF-9CF2-C9B8-7089BE123764}"/>
              </a:ext>
            </a:extLst>
          </p:cNvPr>
          <p:cNvCxnSpPr>
            <a:cxnSpLocks/>
          </p:cNvCxnSpPr>
          <p:nvPr/>
        </p:nvCxnSpPr>
        <p:spPr>
          <a:xfrm>
            <a:off x="5987845" y="4198374"/>
            <a:ext cx="0" cy="5899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24825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55120-D08E-DD2E-3EED-B5FE343B8D9A}"/>
              </a:ext>
            </a:extLst>
          </p:cNvPr>
          <p:cNvSpPr txBox="1"/>
          <p:nvPr/>
        </p:nvSpPr>
        <p:spPr>
          <a:xfrm>
            <a:off x="226141" y="157316"/>
            <a:ext cx="3932903" cy="400110"/>
          </a:xfrm>
          <a:prstGeom prst="rect">
            <a:avLst/>
          </a:prstGeom>
          <a:noFill/>
        </p:spPr>
        <p:txBody>
          <a:bodyPr wrap="square" rtlCol="0">
            <a:spAutoFit/>
          </a:bodyPr>
          <a:lstStyle/>
          <a:p>
            <a:r>
              <a:rPr lang="en-IN" sz="2000" b="1" u="sng" dirty="0" err="1"/>
              <a:t>Streamlit</a:t>
            </a:r>
            <a:r>
              <a:rPr lang="en-IN" sz="2000" b="1" u="sng" dirty="0"/>
              <a:t> Application Execution:</a:t>
            </a:r>
          </a:p>
        </p:txBody>
      </p:sp>
      <p:sp>
        <p:nvSpPr>
          <p:cNvPr id="3" name="Rectangle: Rounded Corners 2">
            <a:extLst>
              <a:ext uri="{FF2B5EF4-FFF2-40B4-BE49-F238E27FC236}">
                <a16:creationId xmlns:a16="http://schemas.microsoft.com/office/drawing/2014/main" id="{85905348-E05B-9C66-2F80-CFE2AAD28ED3}"/>
              </a:ext>
            </a:extLst>
          </p:cNvPr>
          <p:cNvSpPr/>
          <p:nvPr/>
        </p:nvSpPr>
        <p:spPr>
          <a:xfrm>
            <a:off x="3647768" y="557426"/>
            <a:ext cx="4355690" cy="573283"/>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IN" dirty="0"/>
              <a:t>Defined a condition to Access the SQLite Database</a:t>
            </a:r>
          </a:p>
        </p:txBody>
      </p:sp>
      <p:sp>
        <p:nvSpPr>
          <p:cNvPr id="4" name="Rectangle 3">
            <a:extLst>
              <a:ext uri="{FF2B5EF4-FFF2-40B4-BE49-F238E27FC236}">
                <a16:creationId xmlns:a16="http://schemas.microsoft.com/office/drawing/2014/main" id="{4E49CDAE-AE7B-913E-B3C5-7466108769C7}"/>
              </a:ext>
            </a:extLst>
          </p:cNvPr>
          <p:cNvSpPr/>
          <p:nvPr/>
        </p:nvSpPr>
        <p:spPr>
          <a:xfrm>
            <a:off x="3647768" y="1592826"/>
            <a:ext cx="4355690" cy="8750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Presented the app with 5 different pages with sidebar Navigation Function</a:t>
            </a:r>
          </a:p>
        </p:txBody>
      </p:sp>
      <p:sp>
        <p:nvSpPr>
          <p:cNvPr id="5" name="Rectangle: Rounded Corners 4">
            <a:extLst>
              <a:ext uri="{FF2B5EF4-FFF2-40B4-BE49-F238E27FC236}">
                <a16:creationId xmlns:a16="http://schemas.microsoft.com/office/drawing/2014/main" id="{E97E05A8-FA61-949E-FFDC-84F6BCD0E48B}"/>
              </a:ext>
            </a:extLst>
          </p:cNvPr>
          <p:cNvSpPr/>
          <p:nvPr/>
        </p:nvSpPr>
        <p:spPr>
          <a:xfrm>
            <a:off x="688258" y="2910348"/>
            <a:ext cx="1366684" cy="82591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Home Page</a:t>
            </a:r>
          </a:p>
        </p:txBody>
      </p:sp>
      <p:sp>
        <p:nvSpPr>
          <p:cNvPr id="6" name="Rectangle: Rounded Corners 5">
            <a:extLst>
              <a:ext uri="{FF2B5EF4-FFF2-40B4-BE49-F238E27FC236}">
                <a16:creationId xmlns:a16="http://schemas.microsoft.com/office/drawing/2014/main" id="{FF831495-085F-66DE-43B4-CD7E522AF6E0}"/>
              </a:ext>
            </a:extLst>
          </p:cNvPr>
          <p:cNvSpPr/>
          <p:nvPr/>
        </p:nvSpPr>
        <p:spPr>
          <a:xfrm>
            <a:off x="2369575" y="2910348"/>
            <a:ext cx="2113936" cy="82591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Arrival &amp; Departure Data Page</a:t>
            </a:r>
          </a:p>
        </p:txBody>
      </p:sp>
      <p:sp>
        <p:nvSpPr>
          <p:cNvPr id="7" name="Rectangle: Rounded Corners 6">
            <a:extLst>
              <a:ext uri="{FF2B5EF4-FFF2-40B4-BE49-F238E27FC236}">
                <a16:creationId xmlns:a16="http://schemas.microsoft.com/office/drawing/2014/main" id="{3D8FCD08-A043-9C3E-C56A-A97B155D0964}"/>
              </a:ext>
            </a:extLst>
          </p:cNvPr>
          <p:cNvSpPr/>
          <p:nvPr/>
        </p:nvSpPr>
        <p:spPr>
          <a:xfrm>
            <a:off x="4798144" y="2861187"/>
            <a:ext cx="2231919" cy="875071"/>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Arrival &amp; Departure Visualization Page</a:t>
            </a:r>
          </a:p>
        </p:txBody>
      </p:sp>
      <p:sp>
        <p:nvSpPr>
          <p:cNvPr id="8" name="Rectangle: Rounded Corners 7">
            <a:extLst>
              <a:ext uri="{FF2B5EF4-FFF2-40B4-BE49-F238E27FC236}">
                <a16:creationId xmlns:a16="http://schemas.microsoft.com/office/drawing/2014/main" id="{C732739B-37AC-2C4F-0A17-0CB129E9F729}"/>
              </a:ext>
            </a:extLst>
          </p:cNvPr>
          <p:cNvSpPr/>
          <p:nvPr/>
        </p:nvSpPr>
        <p:spPr>
          <a:xfrm>
            <a:off x="7364360" y="2861186"/>
            <a:ext cx="2123769" cy="875071"/>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SQL Query Execution Output Page</a:t>
            </a:r>
          </a:p>
        </p:txBody>
      </p:sp>
      <p:sp>
        <p:nvSpPr>
          <p:cNvPr id="10" name="Rectangle: Rounded Corners 9">
            <a:extLst>
              <a:ext uri="{FF2B5EF4-FFF2-40B4-BE49-F238E27FC236}">
                <a16:creationId xmlns:a16="http://schemas.microsoft.com/office/drawing/2014/main" id="{D5BF3D7B-2E79-596E-56B8-2C8631EACEA6}"/>
              </a:ext>
            </a:extLst>
          </p:cNvPr>
          <p:cNvSpPr/>
          <p:nvPr/>
        </p:nvSpPr>
        <p:spPr>
          <a:xfrm>
            <a:off x="9832258" y="2861186"/>
            <a:ext cx="2123769" cy="875071"/>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dirty="0"/>
              <a:t>Creator Info</a:t>
            </a:r>
          </a:p>
        </p:txBody>
      </p:sp>
      <p:sp>
        <p:nvSpPr>
          <p:cNvPr id="12" name="Rectangle: Rounded Corners 11">
            <a:extLst>
              <a:ext uri="{FF2B5EF4-FFF2-40B4-BE49-F238E27FC236}">
                <a16:creationId xmlns:a16="http://schemas.microsoft.com/office/drawing/2014/main" id="{E437BB92-3359-DCB8-AA7B-87C1B52AB420}"/>
              </a:ext>
            </a:extLst>
          </p:cNvPr>
          <p:cNvSpPr/>
          <p:nvPr/>
        </p:nvSpPr>
        <p:spPr>
          <a:xfrm>
            <a:off x="2497394" y="4306529"/>
            <a:ext cx="1907458" cy="178265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City wise tabulated Arrival and Departure data using Select box</a:t>
            </a:r>
          </a:p>
        </p:txBody>
      </p:sp>
      <p:sp>
        <p:nvSpPr>
          <p:cNvPr id="13" name="Rectangle: Rounded Corners 12">
            <a:extLst>
              <a:ext uri="{FF2B5EF4-FFF2-40B4-BE49-F238E27FC236}">
                <a16:creationId xmlns:a16="http://schemas.microsoft.com/office/drawing/2014/main" id="{48F5BBB6-6B2F-B67C-F54A-C4CFE7BE1B0E}"/>
              </a:ext>
            </a:extLst>
          </p:cNvPr>
          <p:cNvSpPr/>
          <p:nvPr/>
        </p:nvSpPr>
        <p:spPr>
          <a:xfrm>
            <a:off x="786581" y="4414684"/>
            <a:ext cx="1268361" cy="167449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Project overview &amp; Info</a:t>
            </a:r>
          </a:p>
        </p:txBody>
      </p:sp>
      <p:sp>
        <p:nvSpPr>
          <p:cNvPr id="14" name="Rectangle: Rounded Corners 13">
            <a:extLst>
              <a:ext uri="{FF2B5EF4-FFF2-40B4-BE49-F238E27FC236}">
                <a16:creationId xmlns:a16="http://schemas.microsoft.com/office/drawing/2014/main" id="{BF11C59B-21FA-C156-A70A-DF98891E4DA8}"/>
              </a:ext>
            </a:extLst>
          </p:cNvPr>
          <p:cNvSpPr/>
          <p:nvPr/>
        </p:nvSpPr>
        <p:spPr>
          <a:xfrm>
            <a:off x="4847304" y="4306528"/>
            <a:ext cx="2231919" cy="178265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City wise plotted Arrival and Departure data visualization using Select box</a:t>
            </a:r>
          </a:p>
        </p:txBody>
      </p:sp>
      <p:sp>
        <p:nvSpPr>
          <p:cNvPr id="15" name="Rectangle: Rounded Corners 14">
            <a:extLst>
              <a:ext uri="{FF2B5EF4-FFF2-40B4-BE49-F238E27FC236}">
                <a16:creationId xmlns:a16="http://schemas.microsoft.com/office/drawing/2014/main" id="{4E949504-BC87-54F2-44BD-5584DA4A57BA}"/>
              </a:ext>
            </a:extLst>
          </p:cNvPr>
          <p:cNvSpPr/>
          <p:nvPr/>
        </p:nvSpPr>
        <p:spPr>
          <a:xfrm>
            <a:off x="7521675" y="4306528"/>
            <a:ext cx="1966454" cy="178265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Using dropdown select box for displaying predefined 11 SQL Queries</a:t>
            </a:r>
          </a:p>
        </p:txBody>
      </p:sp>
      <p:sp>
        <p:nvSpPr>
          <p:cNvPr id="16" name="Rectangle: Rounded Corners 15">
            <a:extLst>
              <a:ext uri="{FF2B5EF4-FFF2-40B4-BE49-F238E27FC236}">
                <a16:creationId xmlns:a16="http://schemas.microsoft.com/office/drawing/2014/main" id="{C140837C-5BB9-1F01-E178-898711D7BCEB}"/>
              </a:ext>
            </a:extLst>
          </p:cNvPr>
          <p:cNvSpPr/>
          <p:nvPr/>
        </p:nvSpPr>
        <p:spPr>
          <a:xfrm>
            <a:off x="10038735" y="4306528"/>
            <a:ext cx="1966454" cy="178265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Basic info on Creator</a:t>
            </a:r>
          </a:p>
        </p:txBody>
      </p:sp>
      <p:cxnSp>
        <p:nvCxnSpPr>
          <p:cNvPr id="18" name="Straight Arrow Connector 17">
            <a:extLst>
              <a:ext uri="{FF2B5EF4-FFF2-40B4-BE49-F238E27FC236}">
                <a16:creationId xmlns:a16="http://schemas.microsoft.com/office/drawing/2014/main" id="{484B43E4-9C08-C11F-8B18-25762AAEC395}"/>
              </a:ext>
            </a:extLst>
          </p:cNvPr>
          <p:cNvCxnSpPr>
            <a:stCxn id="3" idx="2"/>
            <a:endCxn id="4" idx="0"/>
          </p:cNvCxnSpPr>
          <p:nvPr/>
        </p:nvCxnSpPr>
        <p:spPr>
          <a:xfrm>
            <a:off x="5825613" y="1130709"/>
            <a:ext cx="0" cy="4621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Connector: Elbow 19">
            <a:extLst>
              <a:ext uri="{FF2B5EF4-FFF2-40B4-BE49-F238E27FC236}">
                <a16:creationId xmlns:a16="http://schemas.microsoft.com/office/drawing/2014/main" id="{595C2AED-4512-1207-07BF-DE9424A03BA3}"/>
              </a:ext>
            </a:extLst>
          </p:cNvPr>
          <p:cNvCxnSpPr>
            <a:stCxn id="4" idx="1"/>
            <a:endCxn id="5" idx="0"/>
          </p:cNvCxnSpPr>
          <p:nvPr/>
        </p:nvCxnSpPr>
        <p:spPr>
          <a:xfrm rot="10800000" flipV="1">
            <a:off x="1371600" y="2030362"/>
            <a:ext cx="2276168" cy="879986"/>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22" name="Connector: Elbow 21">
            <a:extLst>
              <a:ext uri="{FF2B5EF4-FFF2-40B4-BE49-F238E27FC236}">
                <a16:creationId xmlns:a16="http://schemas.microsoft.com/office/drawing/2014/main" id="{A0FF21AC-49C9-7810-6B6A-C8C366184D8D}"/>
              </a:ext>
            </a:extLst>
          </p:cNvPr>
          <p:cNvCxnSpPr>
            <a:stCxn id="4" idx="1"/>
            <a:endCxn id="6" idx="0"/>
          </p:cNvCxnSpPr>
          <p:nvPr/>
        </p:nvCxnSpPr>
        <p:spPr>
          <a:xfrm rot="10800000" flipV="1">
            <a:off x="3426544" y="2030362"/>
            <a:ext cx="221225" cy="879986"/>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EB3406AD-89C8-7DCA-531F-32F04E42C2E0}"/>
              </a:ext>
            </a:extLst>
          </p:cNvPr>
          <p:cNvCxnSpPr>
            <a:stCxn id="4" idx="2"/>
          </p:cNvCxnSpPr>
          <p:nvPr/>
        </p:nvCxnSpPr>
        <p:spPr>
          <a:xfrm>
            <a:off x="5825613" y="2467897"/>
            <a:ext cx="0" cy="44245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C458BFC7-B6BF-34F7-51AE-4C9B44D59AEA}"/>
              </a:ext>
            </a:extLst>
          </p:cNvPr>
          <p:cNvCxnSpPr>
            <a:stCxn id="4" idx="3"/>
            <a:endCxn id="10" idx="0"/>
          </p:cNvCxnSpPr>
          <p:nvPr/>
        </p:nvCxnSpPr>
        <p:spPr>
          <a:xfrm>
            <a:off x="8003458" y="2030362"/>
            <a:ext cx="2890685" cy="83082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28" name="Connector: Elbow 27">
            <a:extLst>
              <a:ext uri="{FF2B5EF4-FFF2-40B4-BE49-F238E27FC236}">
                <a16:creationId xmlns:a16="http://schemas.microsoft.com/office/drawing/2014/main" id="{267C2355-901C-4E74-8331-92E883B99664}"/>
              </a:ext>
            </a:extLst>
          </p:cNvPr>
          <p:cNvCxnSpPr>
            <a:stCxn id="4" idx="3"/>
            <a:endCxn id="8" idx="0"/>
          </p:cNvCxnSpPr>
          <p:nvPr/>
        </p:nvCxnSpPr>
        <p:spPr>
          <a:xfrm>
            <a:off x="8003458" y="2030362"/>
            <a:ext cx="422787" cy="830824"/>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C075364A-AD50-9B6B-3677-8B4CD5FD09C5}"/>
              </a:ext>
            </a:extLst>
          </p:cNvPr>
          <p:cNvCxnSpPr>
            <a:stCxn id="5" idx="2"/>
          </p:cNvCxnSpPr>
          <p:nvPr/>
        </p:nvCxnSpPr>
        <p:spPr>
          <a:xfrm flipH="1">
            <a:off x="1371599" y="3736258"/>
            <a:ext cx="1" cy="6784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a:extLst>
              <a:ext uri="{FF2B5EF4-FFF2-40B4-BE49-F238E27FC236}">
                <a16:creationId xmlns:a16="http://schemas.microsoft.com/office/drawing/2014/main" id="{B1D702A9-DEAA-E135-C904-38D398498BE1}"/>
              </a:ext>
            </a:extLst>
          </p:cNvPr>
          <p:cNvCxnSpPr/>
          <p:nvPr/>
        </p:nvCxnSpPr>
        <p:spPr>
          <a:xfrm>
            <a:off x="5614219" y="3736257"/>
            <a:ext cx="0" cy="570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C652FBDC-86E2-1CE5-0DDD-4D83F74C0E5E}"/>
              </a:ext>
            </a:extLst>
          </p:cNvPr>
          <p:cNvCxnSpPr/>
          <p:nvPr/>
        </p:nvCxnSpPr>
        <p:spPr>
          <a:xfrm>
            <a:off x="3647768" y="3736257"/>
            <a:ext cx="0" cy="570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DAF26301-E70A-B7EE-E879-0266B88567C9}"/>
              </a:ext>
            </a:extLst>
          </p:cNvPr>
          <p:cNvCxnSpPr/>
          <p:nvPr/>
        </p:nvCxnSpPr>
        <p:spPr>
          <a:xfrm>
            <a:off x="8268929" y="3736257"/>
            <a:ext cx="0" cy="570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0F43DB6B-5FEA-7138-7005-BE2A4233094C}"/>
              </a:ext>
            </a:extLst>
          </p:cNvPr>
          <p:cNvCxnSpPr>
            <a:cxnSpLocks/>
          </p:cNvCxnSpPr>
          <p:nvPr/>
        </p:nvCxnSpPr>
        <p:spPr>
          <a:xfrm>
            <a:off x="11208774" y="3736257"/>
            <a:ext cx="0" cy="5702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122628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001A-A833-E9FB-F753-63BD851FB611}"/>
              </a:ext>
            </a:extLst>
          </p:cNvPr>
          <p:cNvSpPr>
            <a:spLocks noGrp="1"/>
          </p:cNvSpPr>
          <p:nvPr>
            <p:ph type="title"/>
          </p:nvPr>
        </p:nvSpPr>
        <p:spPr/>
        <p:txBody>
          <a:bodyPr/>
          <a:lstStyle/>
          <a:p>
            <a:r>
              <a:rPr lang="en-US" b="1" dirty="0"/>
              <a:t>Challenges &amp; Technical Obstacles</a:t>
            </a:r>
            <a:br>
              <a:rPr lang="en-US" b="1" dirty="0"/>
            </a:br>
            <a:endParaRPr lang="en-IN" dirty="0"/>
          </a:p>
        </p:txBody>
      </p:sp>
      <p:sp>
        <p:nvSpPr>
          <p:cNvPr id="3" name="Content Placeholder 2">
            <a:extLst>
              <a:ext uri="{FF2B5EF4-FFF2-40B4-BE49-F238E27FC236}">
                <a16:creationId xmlns:a16="http://schemas.microsoft.com/office/drawing/2014/main" id="{D0F6C2F4-3727-D4E1-FC29-5D2C33264E9A}"/>
              </a:ext>
            </a:extLst>
          </p:cNvPr>
          <p:cNvSpPr>
            <a:spLocks noGrp="1"/>
          </p:cNvSpPr>
          <p:nvPr>
            <p:ph idx="1"/>
          </p:nvPr>
        </p:nvSpPr>
        <p:spPr>
          <a:xfrm>
            <a:off x="838200" y="1229032"/>
            <a:ext cx="10515600" cy="4947931"/>
          </a:xfrm>
        </p:spPr>
        <p:txBody>
          <a:bodyPr>
            <a:normAutofit fontScale="70000" lnSpcReduction="20000"/>
          </a:bodyPr>
          <a:lstStyle/>
          <a:p>
            <a:pPr marL="0" indent="0">
              <a:buNone/>
            </a:pPr>
            <a:r>
              <a:rPr lang="en-US" b="1" u="sng" dirty="0"/>
              <a:t>1. Data Extraction &amp; API Constraints</a:t>
            </a:r>
          </a:p>
          <a:p>
            <a:r>
              <a:rPr lang="en-US" b="1" dirty="0"/>
              <a:t>Rate Limiting &amp; Quota Management:</a:t>
            </a:r>
            <a:r>
              <a:rPr lang="en-US" dirty="0"/>
              <a:t> Encountered significant "Quota Exceeded" errors during iterative data fetching. To successfully compile the required dataset, it was necessary to manage and rotate through multiple API keys across five different accounts.</a:t>
            </a:r>
          </a:p>
          <a:p>
            <a:r>
              <a:rPr lang="en-US" b="1" dirty="0"/>
              <a:t>Data Integrity &amp; Sparse Datasets:</a:t>
            </a:r>
            <a:r>
              <a:rPr lang="en-US" dirty="0"/>
              <a:t> Many API responses contained incomplete or null fields. Standard data imputation methods (like filling means or modes) were avoided, as they would have compromised the factual accuracy of flight schedules and aircraft specifications.</a:t>
            </a:r>
          </a:p>
          <a:p>
            <a:r>
              <a:rPr lang="en-US" b="1" dirty="0"/>
              <a:t>Processing Complexity:</a:t>
            </a:r>
            <a:r>
              <a:rPr lang="en-US" dirty="0"/>
              <a:t> Transforming raw, nested JSON "dumps" into a flattened relational structure required complex Python logic to ensure data remained consistent across the Flights and Aircraft tables.</a:t>
            </a:r>
          </a:p>
          <a:p>
            <a:pPr marL="0" indent="0">
              <a:buNone/>
            </a:pPr>
            <a:endParaRPr lang="en-US" dirty="0"/>
          </a:p>
          <a:p>
            <a:pPr marL="0" indent="0">
              <a:buNone/>
            </a:pPr>
            <a:r>
              <a:rPr lang="en-US" b="1" u="sng" dirty="0"/>
              <a:t>2. </a:t>
            </a:r>
            <a:r>
              <a:rPr lang="en-US" b="1" u="sng" dirty="0" err="1"/>
              <a:t>Streamlit</a:t>
            </a:r>
            <a:r>
              <a:rPr lang="en-US" b="1" u="sng" dirty="0"/>
              <a:t> Development &amp; Database Integration</a:t>
            </a:r>
          </a:p>
          <a:p>
            <a:r>
              <a:rPr lang="en-US" b="1" dirty="0"/>
              <a:t>Beyond Basic UI:</a:t>
            </a:r>
            <a:r>
              <a:rPr lang="en-US" dirty="0"/>
              <a:t> While basic dashboard elements (headers, select boxes) were straightforward, architecting a robust connection between </a:t>
            </a:r>
            <a:r>
              <a:rPr lang="en-US" dirty="0" err="1"/>
              <a:t>Streamlit</a:t>
            </a:r>
            <a:r>
              <a:rPr lang="en-US" dirty="0"/>
              <a:t> and the SQL database presented a steep learning curve.</a:t>
            </a:r>
          </a:p>
          <a:p>
            <a:r>
              <a:rPr lang="en-US" b="1" dirty="0"/>
              <a:t>Complex Debugging:</a:t>
            </a:r>
            <a:r>
              <a:rPr lang="en-US" dirty="0"/>
              <a:t> Solving connection pooling and synchronization issues required extensive research beyond the provided project documentation, utilizing community resources and technical forums.</a:t>
            </a:r>
          </a:p>
          <a:p>
            <a:endParaRPr lang="en-IN" dirty="0"/>
          </a:p>
        </p:txBody>
      </p:sp>
    </p:spTree>
    <p:extLst>
      <p:ext uri="{BB962C8B-B14F-4D97-AF65-F5344CB8AC3E}">
        <p14:creationId xmlns:p14="http://schemas.microsoft.com/office/powerpoint/2010/main" val="3437151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F99FCC-E6CA-6765-9911-0175D1BAC071}"/>
              </a:ext>
            </a:extLst>
          </p:cNvPr>
          <p:cNvSpPr txBox="1"/>
          <p:nvPr/>
        </p:nvSpPr>
        <p:spPr>
          <a:xfrm>
            <a:off x="570271" y="852124"/>
            <a:ext cx="11297264" cy="3970318"/>
          </a:xfrm>
          <a:prstGeom prst="rect">
            <a:avLst/>
          </a:prstGeom>
          <a:noFill/>
        </p:spPr>
        <p:txBody>
          <a:bodyPr wrap="square">
            <a:spAutoFit/>
          </a:bodyPr>
          <a:lstStyle/>
          <a:p>
            <a:endParaRPr lang="en-US" b="1" u="sng" dirty="0"/>
          </a:p>
          <a:p>
            <a:endParaRPr lang="en-US" b="1" u="sng" dirty="0"/>
          </a:p>
          <a:p>
            <a:r>
              <a:rPr lang="en-US" b="1" u="sng" dirty="0"/>
              <a:t>3. Deployment Discrepancies (Local vs. Cloud)</a:t>
            </a:r>
          </a:p>
          <a:p>
            <a:r>
              <a:rPr lang="en-US" b="1" dirty="0"/>
              <a:t>Environment Parity Issues:</a:t>
            </a:r>
            <a:r>
              <a:rPr lang="en-US" dirty="0"/>
              <a:t> Experienced significant "Environmental Drift" where the application functioned perfectly in the local VS Code environment but failed upon deployment to GitHub/</a:t>
            </a:r>
            <a:r>
              <a:rPr lang="en-US" dirty="0" err="1"/>
              <a:t>Streamlit</a:t>
            </a:r>
            <a:r>
              <a:rPr lang="en-US" dirty="0"/>
              <a:t> Cloud.</a:t>
            </a:r>
          </a:p>
          <a:p>
            <a:r>
              <a:rPr lang="en-US" b="1" dirty="0"/>
              <a:t>Troubleshooting:</a:t>
            </a:r>
            <a:r>
              <a:rPr lang="en-US" dirty="0"/>
              <a:t> Required deep-diving into dependency management (requirements.txt) and secret handling (API keys/DB credentials) to ensure the cloud environment mirrored the local configuration.</a:t>
            </a:r>
          </a:p>
          <a:p>
            <a:br>
              <a:rPr lang="en-US" dirty="0"/>
            </a:br>
            <a:endParaRPr lang="en-US" dirty="0"/>
          </a:p>
          <a:p>
            <a:r>
              <a:rPr lang="en-US" b="1" dirty="0"/>
              <a:t>Key Takeaways &amp; Growth</a:t>
            </a:r>
          </a:p>
          <a:p>
            <a:r>
              <a:rPr lang="en-US" b="1" dirty="0"/>
              <a:t>Resilience:</a:t>
            </a:r>
            <a:r>
              <a:rPr lang="en-US" dirty="0"/>
              <a:t> Developed strategies to overcome strict API limitations and data scarcity.</a:t>
            </a:r>
          </a:p>
          <a:p>
            <a:r>
              <a:rPr lang="en-US" b="1" dirty="0"/>
              <a:t>Technical Proficiency:</a:t>
            </a:r>
            <a:r>
              <a:rPr lang="en-US" dirty="0"/>
              <a:t> Gained advanced experience in real-world debugging, cloud deployment, and relational database management.</a:t>
            </a:r>
          </a:p>
          <a:p>
            <a:r>
              <a:rPr lang="en-US" b="1" dirty="0"/>
              <a:t>Problem Solving:</a:t>
            </a:r>
            <a:r>
              <a:rPr lang="en-US" dirty="0"/>
              <a:t> Mastered the ability to source solutions independently for complex, non-standard technical errors.</a:t>
            </a:r>
          </a:p>
        </p:txBody>
      </p:sp>
    </p:spTree>
    <p:extLst>
      <p:ext uri="{BB962C8B-B14F-4D97-AF65-F5344CB8AC3E}">
        <p14:creationId xmlns:p14="http://schemas.microsoft.com/office/powerpoint/2010/main" val="1610417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11402</TotalTime>
  <Words>574</Words>
  <Application>Microsoft Office PowerPoint</Application>
  <PresentationFormat>Widescreen</PresentationFormat>
  <Paragraphs>71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Calibri</vt:lpstr>
      <vt:lpstr>Calibri Light</vt:lpstr>
      <vt:lpstr>Office Theme</vt:lpstr>
      <vt:lpstr>Flight Data Analytics</vt:lpstr>
      <vt:lpstr>PowerPoint Presentation</vt:lpstr>
      <vt:lpstr>Data Extraction</vt:lpstr>
      <vt:lpstr>PowerPoint Presentation</vt:lpstr>
      <vt:lpstr>PowerPoint Presentation</vt:lpstr>
      <vt:lpstr>Challenges &amp; Technical Obstacles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SUPER G2</dc:creator>
  <cp:lastModifiedBy>SUPER G2</cp:lastModifiedBy>
  <cp:revision>2</cp:revision>
  <dcterms:created xsi:type="dcterms:W3CDTF">2025-12-21T07:06:51Z</dcterms:created>
  <dcterms:modified xsi:type="dcterms:W3CDTF">2025-12-29T05:09:26Z</dcterms:modified>
</cp:coreProperties>
</file>